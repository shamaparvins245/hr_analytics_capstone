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4" r:id="rId5"/>
    <p:sldId id="272" r:id="rId6"/>
    <p:sldId id="261" r:id="rId7"/>
    <p:sldId id="273" r:id="rId8"/>
    <p:sldId id="259" r:id="rId9"/>
    <p:sldId id="269" r:id="rId10"/>
    <p:sldId id="267" r:id="rId11"/>
    <p:sldId id="268" r:id="rId12"/>
  </p:sldIdLst>
  <p:sldSz cx="18288000" cy="10287000"/>
  <p:notesSz cx="6858000" cy="9144000"/>
  <p:embeddedFontLst>
    <p:embeddedFont>
      <p:font typeface="Archivo Black" panose="020B0604020202020204" charset="0"/>
      <p:regular r:id="rId14"/>
    </p:embeddedFont>
    <p:embeddedFont>
      <p:font typeface="Comic Sans" panose="020B0604020202020204" charset="0"/>
      <p:regular r:id="rId15"/>
    </p:embeddedFont>
    <p:embeddedFont>
      <p:font typeface="Mokoto" panose="020B0604020202020204" charset="0"/>
      <p:regular r:id="rId16"/>
    </p:embeddedFont>
    <p:embeddedFont>
      <p:font typeface="Red Hat Display" panose="020B0604020202020204" charset="0"/>
      <p:regular r:id="rId17"/>
    </p:embeddedFont>
    <p:embeddedFont>
      <p:font typeface="Red Hat Display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740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59502-AD42-4901-84BB-B15BC8E6F99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C1835-6172-4863-8B77-3751C241B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1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attrition </a:t>
            </a:r>
            <a:r>
              <a:rPr lang="en-US" dirty="0" err="1"/>
              <a:t>em</a:t>
            </a:r>
            <a:r>
              <a:rPr lang="en-US" dirty="0"/>
              <a:t> performance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C1835-6172-4863-8B77-3751C241B1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EBB4-B145-DC2D-836C-DCFCE38A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3FD49-BAE0-AA13-54E1-62EC82644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92DF8-674C-FC4D-31AC-49853C832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attrition </a:t>
            </a:r>
            <a:r>
              <a:rPr lang="en-US" dirty="0" err="1"/>
              <a:t>em</a:t>
            </a:r>
            <a:r>
              <a:rPr lang="en-US" dirty="0"/>
              <a:t> performance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5D34F-75E2-6E05-F65D-5A674EC32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C1835-6172-4863-8B77-3751C241B1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3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4026" y="7861934"/>
            <a:ext cx="1201779" cy="1881046"/>
          </a:xfrm>
          <a:custGeom>
            <a:avLst/>
            <a:gdLst/>
            <a:ahLst/>
            <a:cxnLst/>
            <a:rect l="l" t="t" r="r" b="b"/>
            <a:pathLst>
              <a:path w="1201779" h="1881046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7042194" y="1449196"/>
            <a:ext cx="1201779" cy="1881046"/>
          </a:xfrm>
          <a:custGeom>
            <a:avLst/>
            <a:gdLst/>
            <a:ahLst/>
            <a:cxnLst/>
            <a:rect l="l" t="t" r="r" b="b"/>
            <a:pathLst>
              <a:path w="1201779" h="1881046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3959256">
            <a:off x="16183110" y="8964003"/>
            <a:ext cx="1651994" cy="2192913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6876587" flipH="1">
            <a:off x="-1110918" y="-387412"/>
            <a:ext cx="1651994" cy="2192913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324080"/>
            <a:ext cx="16555696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4"/>
              </a:lnSpc>
              <a:spcBef>
                <a:spcPct val="0"/>
              </a:spcBef>
            </a:pPr>
            <a:r>
              <a:rPr lang="en-US" sz="12003" dirty="0">
                <a:latin typeface="Mokoto"/>
                <a:ea typeface="Mokoto"/>
                <a:cs typeface="Mokoto"/>
                <a:sym typeface="Mokoto"/>
              </a:rPr>
              <a:t>HR ANALYTICS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61185" y="6095268"/>
            <a:ext cx="7765628" cy="68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latin typeface="Red Hat Display Bold"/>
                <a:ea typeface="Red Hat Display Bold"/>
                <a:cs typeface="Red Hat Display Bold"/>
                <a:sym typeface="Red Hat Display Bold"/>
              </a:rPr>
              <a:t>Presented By-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95282" y="7479586"/>
            <a:ext cx="65301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500" b="1" dirty="0">
                <a:latin typeface="Red Hat Display"/>
                <a:ea typeface="Red Hat Display"/>
                <a:cs typeface="Red Hat Display"/>
                <a:sym typeface="Red Hat Display"/>
              </a:rPr>
              <a:t>Isha C, Ishita M, Khushi V, Nikita J, </a:t>
            </a:r>
            <a:r>
              <a:rPr lang="en-US" sz="4500" b="1" dirty="0" err="1">
                <a:latin typeface="Red Hat Display"/>
                <a:ea typeface="Red Hat Display"/>
                <a:cs typeface="Red Hat Display"/>
                <a:sym typeface="Red Hat Display"/>
              </a:rPr>
              <a:t>Shamaparvin</a:t>
            </a:r>
            <a:r>
              <a:rPr lang="en-US" sz="4500" b="1" dirty="0">
                <a:latin typeface="Red Hat Display"/>
                <a:ea typeface="Red Hat Display"/>
                <a:cs typeface="Red Hat Display"/>
                <a:sym typeface="Red Hat Display"/>
              </a:rPr>
              <a:t> 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95283" y="3934775"/>
            <a:ext cx="5897433" cy="69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4300" b="1" dirty="0">
                <a:latin typeface="Red Hat Display Bold"/>
                <a:ea typeface="Red Hat Display Bold"/>
                <a:cs typeface="Red Hat Display Bold"/>
                <a:sym typeface="Red Hat Display Bold"/>
              </a:rP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940" y="-38100"/>
            <a:ext cx="1826206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sz="9800" b="1" dirty="0">
                <a:latin typeface="+mj-lt"/>
              </a:rPr>
              <a:t>                                 Goals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65759" y="809715"/>
            <a:ext cx="8737534" cy="9169310"/>
            <a:chOff x="0" y="0"/>
            <a:chExt cx="2137363" cy="2234340"/>
          </a:xfrm>
          <a:solidFill>
            <a:schemeClr val="bg1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137363" cy="2234340"/>
            </a:xfrm>
            <a:custGeom>
              <a:avLst/>
              <a:gdLst/>
              <a:ahLst/>
              <a:cxnLst/>
              <a:rect l="l" t="t" r="r" b="b"/>
              <a:pathLst>
                <a:path w="2137363" h="2234340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2215260"/>
                  </a:lnTo>
                  <a:cubicBezTo>
                    <a:pt x="2137363" y="2225798"/>
                    <a:pt x="2128821" y="2234340"/>
                    <a:pt x="2118283" y="2234340"/>
                  </a:cubicBezTo>
                  <a:lnTo>
                    <a:pt x="19080" y="2234340"/>
                  </a:lnTo>
                  <a:cubicBezTo>
                    <a:pt x="8542" y="2234340"/>
                    <a:pt x="0" y="2225798"/>
                    <a:pt x="0" y="2215260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grpFill/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37363" cy="227244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73806" y="949370"/>
            <a:ext cx="7025086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8500" dirty="0">
                <a:latin typeface="Archivo Black"/>
                <a:ea typeface="Archivo Black"/>
                <a:cs typeface="Archivo Black"/>
                <a:sym typeface="Archivo Black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3806" y="3396615"/>
            <a:ext cx="7874993" cy="6114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lnSpc>
                <a:spcPts val="4769"/>
              </a:lnSpc>
              <a:buFont typeface="+mj-lt"/>
              <a:buAutoNum type="romanU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 insights on workforce performance and employee behavior.</a:t>
            </a:r>
          </a:p>
          <a:p>
            <a:pPr marL="571500" lvl="0" indent="-571500" algn="just">
              <a:lnSpc>
                <a:spcPts val="4769"/>
              </a:lnSpc>
              <a:buFont typeface="+mj-lt"/>
              <a:buAutoNum type="romanU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 consolidated HR KPIs for strategic decisions.</a:t>
            </a:r>
          </a:p>
          <a:p>
            <a:pPr marL="571500" lvl="0" indent="-571500" algn="just">
              <a:lnSpc>
                <a:spcPts val="4769"/>
              </a:lnSpc>
              <a:buFont typeface="+mj-lt"/>
              <a:buAutoNum type="romanU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 visibility into department-wise, role-wise, or location-wise trends.</a:t>
            </a:r>
          </a:p>
          <a:p>
            <a:pPr marL="571500" lvl="0" indent="-571500" algn="just">
              <a:lnSpc>
                <a:spcPts val="4769"/>
              </a:lnSpc>
              <a:buFont typeface="+mj-lt"/>
              <a:buAutoNum type="romanU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Difficulty identifying risks like high attrition or skill gaps.</a:t>
            </a:r>
          </a:p>
          <a:p>
            <a:pPr marL="571500" lvl="0" indent="-571500" algn="just">
              <a:lnSpc>
                <a:spcPts val="4769"/>
              </a:lnSpc>
              <a:buFont typeface="+mj-lt"/>
              <a:buAutoNum type="romanU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Lack of actionable intelligence for workforce planning and policy decisions.</a:t>
            </a:r>
            <a:endParaRPr lang="en-US" sz="2999" spc="179" dirty="0">
              <a:latin typeface="Arial" panose="020B0604020202020204" pitchFamily="34" charset="0"/>
              <a:ea typeface="Red Hat Display"/>
              <a:cs typeface="Arial" panose="020B0604020202020204" pitchFamily="34" charset="0"/>
              <a:sym typeface="Red Hat Display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4A6EED8-EA86-DDE1-6E77-55D787E5C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9" t="31729" r="50276" b="20911"/>
          <a:stretch>
            <a:fillRect/>
          </a:stretch>
        </p:blipFill>
        <p:spPr>
          <a:xfrm>
            <a:off x="11086426" y="1756597"/>
            <a:ext cx="5260702" cy="39965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83FD76-B889-C8CC-ADA1-61DCB64EA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0469" r="5719" b="21426"/>
          <a:stretch>
            <a:fillRect/>
          </a:stretch>
        </p:blipFill>
        <p:spPr>
          <a:xfrm>
            <a:off x="11086426" y="6096000"/>
            <a:ext cx="5260702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softEdge rad="241300"/>
          </a:effectLst>
        </p:spPr>
        <p:txBody>
          <a:bodyPr/>
          <a:lstStyle/>
          <a:p>
            <a:pPr algn="ctr"/>
            <a:endParaRPr lang="en-US" sz="6000" b="1" dirty="0"/>
          </a:p>
          <a:p>
            <a:pPr algn="ctr"/>
            <a:r>
              <a:rPr lang="en-US" sz="7200" b="1" dirty="0"/>
              <a:t>Business Requirements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73822" y="4508780"/>
            <a:ext cx="4912763" cy="176004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059"/>
              </a:lnSpc>
              <a:spcBef>
                <a:spcPct val="0"/>
              </a:spcBef>
            </a:pPr>
            <a:endParaRPr lang="en-US" sz="2899" u="none" strike="noStrike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DA7A446-AB36-B480-DA3C-1E2BD19142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063" y="2387373"/>
            <a:ext cx="7669873" cy="5512254"/>
          </a:xfrm>
          <a:prstGeom prst="rect">
            <a:avLst/>
          </a:prstGeom>
        </p:spPr>
      </p:pic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27C00786-CC1D-BD8F-4E58-D923A77A5C32}"/>
              </a:ext>
            </a:extLst>
          </p:cNvPr>
          <p:cNvSpPr/>
          <p:nvPr/>
        </p:nvSpPr>
        <p:spPr>
          <a:xfrm>
            <a:off x="911156" y="2387373"/>
            <a:ext cx="4126149" cy="143879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dirty="0"/>
              <a:t>Employee Attrition Trend</a:t>
            </a:r>
          </a:p>
        </p:txBody>
      </p:sp>
      <p:sp>
        <p:nvSpPr>
          <p:cNvPr id="32" name="Rectangle: Diagonal Corners Rounded 31">
            <a:extLst>
              <a:ext uri="{FF2B5EF4-FFF2-40B4-BE49-F238E27FC236}">
                <a16:creationId xmlns:a16="http://schemas.microsoft.com/office/drawing/2014/main" id="{D57FF71A-2BB5-BE74-F095-6B8C10CC3AF7}"/>
              </a:ext>
            </a:extLst>
          </p:cNvPr>
          <p:cNvSpPr/>
          <p:nvPr/>
        </p:nvSpPr>
        <p:spPr>
          <a:xfrm>
            <a:off x="850534" y="4508780"/>
            <a:ext cx="4126149" cy="143879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dirty="0"/>
              <a:t>Hiring and Requirement Efficiency</a:t>
            </a:r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8D667FCF-CA78-8B15-D3F9-3364D50EFF62}"/>
              </a:ext>
            </a:extLst>
          </p:cNvPr>
          <p:cNvSpPr/>
          <p:nvPr/>
        </p:nvSpPr>
        <p:spPr>
          <a:xfrm>
            <a:off x="13211512" y="2387373"/>
            <a:ext cx="4126149" cy="143879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dirty="0"/>
              <a:t>Performance and Training Insights</a:t>
            </a:r>
          </a:p>
        </p:txBody>
      </p:sp>
      <p:sp>
        <p:nvSpPr>
          <p:cNvPr id="34" name="Rectangle: Diagonal Corners Rounded 33">
            <a:extLst>
              <a:ext uri="{FF2B5EF4-FFF2-40B4-BE49-F238E27FC236}">
                <a16:creationId xmlns:a16="http://schemas.microsoft.com/office/drawing/2014/main" id="{6B52D452-4684-C537-5B17-62960A7F97D2}"/>
              </a:ext>
            </a:extLst>
          </p:cNvPr>
          <p:cNvSpPr/>
          <p:nvPr/>
        </p:nvSpPr>
        <p:spPr>
          <a:xfrm>
            <a:off x="13197732" y="6460829"/>
            <a:ext cx="4153711" cy="143879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dirty="0"/>
              <a:t>Promotional and Growth Analysis</a:t>
            </a:r>
          </a:p>
        </p:txBody>
      </p:sp>
      <p:sp>
        <p:nvSpPr>
          <p:cNvPr id="35" name="Rectangle: Diagonal Corners Rounded 34">
            <a:extLst>
              <a:ext uri="{FF2B5EF4-FFF2-40B4-BE49-F238E27FC236}">
                <a16:creationId xmlns:a16="http://schemas.microsoft.com/office/drawing/2014/main" id="{9676DA39-F90B-342E-DE89-448809B95E76}"/>
              </a:ext>
            </a:extLst>
          </p:cNvPr>
          <p:cNvSpPr/>
          <p:nvPr/>
        </p:nvSpPr>
        <p:spPr>
          <a:xfrm>
            <a:off x="936556" y="6460829"/>
            <a:ext cx="4153711" cy="143879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dirty="0"/>
              <a:t>Workforce Distribution</a:t>
            </a:r>
          </a:p>
        </p:txBody>
      </p:sp>
      <p:sp>
        <p:nvSpPr>
          <p:cNvPr id="36" name="Rectangle: Diagonal Corners Rounded 35">
            <a:extLst>
              <a:ext uri="{FF2B5EF4-FFF2-40B4-BE49-F238E27FC236}">
                <a16:creationId xmlns:a16="http://schemas.microsoft.com/office/drawing/2014/main" id="{FC30C22B-C4FD-7EBA-31B7-818698C8CE60}"/>
              </a:ext>
            </a:extLst>
          </p:cNvPr>
          <p:cNvSpPr/>
          <p:nvPr/>
        </p:nvSpPr>
        <p:spPr>
          <a:xfrm>
            <a:off x="13311317" y="4508780"/>
            <a:ext cx="4126149" cy="143879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dirty="0"/>
              <a:t>Salary and Compensation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7FCA-9625-F515-DD19-FDC34C48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4EA57B-ADF3-BCFC-9815-828C19EBBF7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softEdge rad="241300"/>
          </a:effectLst>
        </p:spPr>
        <p:txBody>
          <a:bodyPr/>
          <a:lstStyle/>
          <a:p>
            <a:pPr algn="ctr"/>
            <a:endParaRPr lang="en-US" sz="6000" b="1" dirty="0"/>
          </a:p>
          <a:p>
            <a:pPr algn="ctr"/>
            <a:r>
              <a:rPr lang="en-US" sz="7200" b="1" dirty="0"/>
              <a:t>Business Value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3244FAB-93E8-9308-08E3-56CBE742B227}"/>
              </a:ext>
            </a:extLst>
          </p:cNvPr>
          <p:cNvSpPr txBox="1"/>
          <p:nvPr/>
        </p:nvSpPr>
        <p:spPr>
          <a:xfrm>
            <a:off x="5973822" y="4508780"/>
            <a:ext cx="4912763" cy="176004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059"/>
              </a:lnSpc>
              <a:spcBef>
                <a:spcPct val="0"/>
              </a:spcBef>
            </a:pPr>
            <a:endParaRPr lang="en-US" sz="2899" u="none" strike="noStrike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C0C94-43D2-FB9E-0D16-13D65B8AA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7" t="19185" b="9992"/>
          <a:stretch>
            <a:fillRect/>
          </a:stretch>
        </p:blipFill>
        <p:spPr>
          <a:xfrm>
            <a:off x="2057400" y="2171700"/>
            <a:ext cx="14935199" cy="711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2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A584D-2772-77D5-F9A3-517D36EF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>
            <a:extLst>
              <a:ext uri="{FF2B5EF4-FFF2-40B4-BE49-F238E27FC236}">
                <a16:creationId xmlns:a16="http://schemas.microsoft.com/office/drawing/2014/main" id="{3928E2FD-02AF-6798-ABA4-91AD17F95BFF}"/>
              </a:ext>
            </a:extLst>
          </p:cNvPr>
          <p:cNvSpPr txBox="1"/>
          <p:nvPr/>
        </p:nvSpPr>
        <p:spPr>
          <a:xfrm rot="16200000">
            <a:off x="-5848908" y="4691740"/>
            <a:ext cx="14430133" cy="90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dirty="0">
                <a:latin typeface="Archivo Black"/>
                <a:ea typeface="Archivo Black"/>
                <a:cs typeface="Archivo Black"/>
                <a:sym typeface="Archivo Black"/>
              </a:rPr>
              <a:t>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044ED-8FA4-C002-5BAE-06383D03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5453"/>
            <a:ext cx="14859000" cy="989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1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700961" y="1864331"/>
            <a:ext cx="6558339" cy="6558339"/>
          </a:xfrm>
          <a:custGeom>
            <a:avLst/>
            <a:gdLst/>
            <a:ahLst/>
            <a:cxnLst/>
            <a:rect l="l" t="t" r="r" b="b"/>
            <a:pathLst>
              <a:path w="6558339" h="6558339">
                <a:moveTo>
                  <a:pt x="0" y="0"/>
                </a:moveTo>
                <a:lnTo>
                  <a:pt x="6558339" y="0"/>
                </a:lnTo>
                <a:lnTo>
                  <a:pt x="6558339" y="6558338"/>
                </a:lnTo>
                <a:lnTo>
                  <a:pt x="0" y="6558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356946" y="2645014"/>
            <a:ext cx="5590530" cy="4996972"/>
            <a:chOff x="0" y="0"/>
            <a:chExt cx="866119" cy="7741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6119" cy="774162"/>
            </a:xfrm>
            <a:custGeom>
              <a:avLst/>
              <a:gdLst/>
              <a:ahLst/>
              <a:cxnLst/>
              <a:rect l="l" t="t" r="r" b="b"/>
              <a:pathLst>
                <a:path w="866119" h="774162">
                  <a:moveTo>
                    <a:pt x="60932" y="0"/>
                  </a:moveTo>
                  <a:lnTo>
                    <a:pt x="805187" y="0"/>
                  </a:lnTo>
                  <a:cubicBezTo>
                    <a:pt x="821347" y="0"/>
                    <a:pt x="836846" y="6420"/>
                    <a:pt x="848273" y="17847"/>
                  </a:cubicBezTo>
                  <a:cubicBezTo>
                    <a:pt x="859700" y="29274"/>
                    <a:pt x="866119" y="44772"/>
                    <a:pt x="866119" y="60932"/>
                  </a:cubicBezTo>
                  <a:lnTo>
                    <a:pt x="866119" y="713229"/>
                  </a:lnTo>
                  <a:cubicBezTo>
                    <a:pt x="866119" y="729390"/>
                    <a:pt x="859700" y="744888"/>
                    <a:pt x="848273" y="756315"/>
                  </a:cubicBezTo>
                  <a:cubicBezTo>
                    <a:pt x="836846" y="767742"/>
                    <a:pt x="821347" y="774162"/>
                    <a:pt x="805187" y="774162"/>
                  </a:cubicBezTo>
                  <a:lnTo>
                    <a:pt x="60932" y="774162"/>
                  </a:lnTo>
                  <a:cubicBezTo>
                    <a:pt x="44772" y="774162"/>
                    <a:pt x="29274" y="767742"/>
                    <a:pt x="17847" y="756315"/>
                  </a:cubicBezTo>
                  <a:cubicBezTo>
                    <a:pt x="6420" y="744888"/>
                    <a:pt x="0" y="729390"/>
                    <a:pt x="0" y="713229"/>
                  </a:cubicBezTo>
                  <a:lnTo>
                    <a:pt x="0" y="60932"/>
                  </a:lnTo>
                  <a:cubicBezTo>
                    <a:pt x="0" y="44772"/>
                    <a:pt x="6420" y="29274"/>
                    <a:pt x="17847" y="17847"/>
                  </a:cubicBezTo>
                  <a:cubicBezTo>
                    <a:pt x="29274" y="6420"/>
                    <a:pt x="44772" y="0"/>
                    <a:pt x="60932" y="0"/>
                  </a:cubicBezTo>
                  <a:close/>
                </a:path>
              </a:pathLst>
            </a:custGeom>
            <a:blipFill>
              <a:blip r:embed="rId4"/>
              <a:stretch>
                <a:fillRect l="-29451" r="-2945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68618" y="3486150"/>
            <a:ext cx="10088327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latin typeface="Mokoto"/>
                <a:ea typeface="Mokoto"/>
                <a:cs typeface="Mokoto"/>
                <a:sym typeface="Mokoto"/>
              </a:rPr>
              <a:t>HR ANALYTICS</a:t>
            </a:r>
          </a:p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latin typeface="Mokoto"/>
                <a:ea typeface="Mokoto"/>
                <a:cs typeface="Mokoto"/>
                <a:sym typeface="Mokoto"/>
              </a:rPr>
              <a:t>DEMONSTRATION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15363" y="7937129"/>
            <a:ext cx="1671261" cy="1671261"/>
          </a:xfrm>
          <a:custGeom>
            <a:avLst/>
            <a:gdLst/>
            <a:ahLst/>
            <a:cxnLst/>
            <a:rect l="l" t="t" r="r" b="b"/>
            <a:pathLst>
              <a:path w="1671261" h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6001375" y="678609"/>
            <a:ext cx="1671261" cy="1671261"/>
          </a:xfrm>
          <a:custGeom>
            <a:avLst/>
            <a:gdLst/>
            <a:ahLst/>
            <a:cxnLst/>
            <a:rect l="l" t="t" r="r" b="b"/>
            <a:pathLst>
              <a:path w="1671261" h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3959256">
            <a:off x="15290625" y="8906700"/>
            <a:ext cx="1651994" cy="2192913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6876587" flipH="1">
            <a:off x="1543538" y="-805739"/>
            <a:ext cx="1651994" cy="2192913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55FB-F8A3-397F-C731-7F4FAE40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>
            <a:extLst>
              <a:ext uri="{FF2B5EF4-FFF2-40B4-BE49-F238E27FC236}">
                <a16:creationId xmlns:a16="http://schemas.microsoft.com/office/drawing/2014/main" id="{83D68D54-A051-1828-1025-733E365BB678}"/>
              </a:ext>
            </a:extLst>
          </p:cNvPr>
          <p:cNvSpPr txBox="1"/>
          <p:nvPr/>
        </p:nvSpPr>
        <p:spPr>
          <a:xfrm rot="16200000">
            <a:off x="-5848908" y="4691740"/>
            <a:ext cx="14430133" cy="90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dirty="0">
                <a:latin typeface="Archivo Black"/>
                <a:ea typeface="Archivo Black"/>
                <a:cs typeface="Archivo Black"/>
                <a:sym typeface="Archivo Black"/>
              </a:rPr>
              <a:t>POWER BI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13AD6-8CDA-CCFE-5715-30FFCBD5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5453"/>
            <a:ext cx="14859000" cy="989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0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B7F1235-D4E8-3C6C-2127-05F68CDC2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21"/>
            <a:ext cx="18288000" cy="103088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5744-F457-8BAD-389A-26DEE042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>
            <a:extLst>
              <a:ext uri="{FF2B5EF4-FFF2-40B4-BE49-F238E27FC236}">
                <a16:creationId xmlns:a16="http://schemas.microsoft.com/office/drawing/2014/main" id="{D890F402-0653-47C5-43C5-0DBEA98E986F}"/>
              </a:ext>
            </a:extLst>
          </p:cNvPr>
          <p:cNvSpPr txBox="1"/>
          <p:nvPr/>
        </p:nvSpPr>
        <p:spPr>
          <a:xfrm>
            <a:off x="2209800" y="408849"/>
            <a:ext cx="13406950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000" b="1" dirty="0">
                <a:latin typeface="Archivo Black"/>
                <a:ea typeface="Archivo Black"/>
                <a:cs typeface="Archivo Black"/>
                <a:sym typeface="Archivo Black"/>
              </a:rPr>
              <a:t>Retrieval-Augmented Generation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664BC4-29C9-8118-4860-FEE2A2665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505" y="2152916"/>
            <a:ext cx="11720989" cy="779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9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" y="2771071"/>
            <a:ext cx="12321743" cy="4932761"/>
            <a:chOff x="0" y="0"/>
            <a:chExt cx="16428991" cy="65770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6428991" cy="6577014"/>
              <a:chOff x="0" y="0"/>
              <a:chExt cx="3245233" cy="129916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245233" cy="1299163"/>
              </a:xfrm>
              <a:custGeom>
                <a:avLst/>
                <a:gdLst/>
                <a:ahLst/>
                <a:cxnLst/>
                <a:rect l="l" t="t" r="r" b="b"/>
                <a:pathLst>
                  <a:path w="3245233" h="1299163">
                    <a:moveTo>
                      <a:pt x="12566" y="0"/>
                    </a:moveTo>
                    <a:lnTo>
                      <a:pt x="3232667" y="0"/>
                    </a:lnTo>
                    <a:cubicBezTo>
                      <a:pt x="3235999" y="0"/>
                      <a:pt x="3239196" y="1324"/>
                      <a:pt x="3241552" y="3681"/>
                    </a:cubicBezTo>
                    <a:cubicBezTo>
                      <a:pt x="3243909" y="6037"/>
                      <a:pt x="3245233" y="9233"/>
                      <a:pt x="3245233" y="12566"/>
                    </a:cubicBezTo>
                    <a:lnTo>
                      <a:pt x="3245233" y="1286597"/>
                    </a:lnTo>
                    <a:cubicBezTo>
                      <a:pt x="3245233" y="1293537"/>
                      <a:pt x="3239607" y="1299163"/>
                      <a:pt x="3232667" y="1299163"/>
                    </a:cubicBezTo>
                    <a:lnTo>
                      <a:pt x="12566" y="1299163"/>
                    </a:lnTo>
                    <a:cubicBezTo>
                      <a:pt x="5626" y="1299163"/>
                      <a:pt x="0" y="1293537"/>
                      <a:pt x="0" y="1286597"/>
                    </a:cubicBezTo>
                    <a:lnTo>
                      <a:pt x="0" y="12566"/>
                    </a:lnTo>
                    <a:cubicBezTo>
                      <a:pt x="0" y="5626"/>
                      <a:pt x="5626" y="0"/>
                      <a:pt x="1256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245233" cy="13372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433386" y="1364299"/>
              <a:ext cx="13562220" cy="163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Conclusion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5549" y="3337880"/>
              <a:ext cx="12313026" cy="2054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049"/>
                </a:lnSpc>
                <a:spcBef>
                  <a:spcPct val="0"/>
                </a:spcBef>
              </a:pPr>
              <a:r>
                <a:rPr lang="en-US" sz="3700" dirty="0">
                  <a:solidFill>
                    <a:schemeClr val="bg1"/>
                  </a:solidFill>
                </a:rPr>
                <a:t>Successfully achieved data analysis and predictive analysis, fulfilling client needs with end-to-end automated project </a:t>
              </a:r>
              <a:endParaRPr lang="en-US" sz="3700" u="none" spc="179" dirty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666040" y="4141899"/>
            <a:ext cx="9245435" cy="176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4597" dirty="0">
                <a:latin typeface="Archivo Black"/>
                <a:ea typeface="Archivo Black"/>
                <a:cs typeface="Archivo Black"/>
                <a:sym typeface="Archivo Black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135</Words>
  <Application>Microsoft Office PowerPoint</Application>
  <PresentationFormat>Custom</PresentationFormat>
  <Paragraphs>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Archivo Black</vt:lpstr>
      <vt:lpstr>Aptos</vt:lpstr>
      <vt:lpstr>Arial</vt:lpstr>
      <vt:lpstr>Mokoto</vt:lpstr>
      <vt:lpstr>Red Hat Display</vt:lpstr>
      <vt:lpstr>Red Hat Display Bold</vt:lpstr>
      <vt:lpstr>Comic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HR_Analytics_Capstone_Project</dc:title>
  <dc:creator>Ishita Mandlik</dc:creator>
  <cp:lastModifiedBy>Ishita Mandlik</cp:lastModifiedBy>
  <cp:revision>5</cp:revision>
  <dcterms:created xsi:type="dcterms:W3CDTF">2006-08-16T00:00:00Z</dcterms:created>
  <dcterms:modified xsi:type="dcterms:W3CDTF">2025-11-20T05:33:26Z</dcterms:modified>
  <dc:identifier>DAG360GdLrM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4186ff-6105-49c9-a34e-39b846c71822_Enabled">
    <vt:lpwstr>true</vt:lpwstr>
  </property>
  <property fmtid="{D5CDD505-2E9C-101B-9397-08002B2CF9AE}" pid="3" name="MSIP_Label_6e4186ff-6105-49c9-a34e-39b846c71822_SetDate">
    <vt:lpwstr>2025-11-19T16:03:40Z</vt:lpwstr>
  </property>
  <property fmtid="{D5CDD505-2E9C-101B-9397-08002B2CF9AE}" pid="4" name="MSIP_Label_6e4186ff-6105-49c9-a34e-39b846c71822_Method">
    <vt:lpwstr>Standard</vt:lpwstr>
  </property>
  <property fmtid="{D5CDD505-2E9C-101B-9397-08002B2CF9AE}" pid="5" name="MSIP_Label_6e4186ff-6105-49c9-a34e-39b846c71822_Name">
    <vt:lpwstr>Internal</vt:lpwstr>
  </property>
  <property fmtid="{D5CDD505-2E9C-101B-9397-08002B2CF9AE}" pid="6" name="MSIP_Label_6e4186ff-6105-49c9-a34e-39b846c71822_SiteId">
    <vt:lpwstr>5501edf8-56e7-47c5-8cde-a3f87fe1ec0d</vt:lpwstr>
  </property>
  <property fmtid="{D5CDD505-2E9C-101B-9397-08002B2CF9AE}" pid="7" name="MSIP_Label_6e4186ff-6105-49c9-a34e-39b846c71822_ActionId">
    <vt:lpwstr>5488c51e-e1a1-4899-9375-aea657eecde9</vt:lpwstr>
  </property>
  <property fmtid="{D5CDD505-2E9C-101B-9397-08002B2CF9AE}" pid="8" name="MSIP_Label_6e4186ff-6105-49c9-a34e-39b846c71822_ContentBits">
    <vt:lpwstr>0</vt:lpwstr>
  </property>
  <property fmtid="{D5CDD505-2E9C-101B-9397-08002B2CF9AE}" pid="9" name="MSIP_Label_6e4186ff-6105-49c9-a34e-39b846c71822_Tag">
    <vt:lpwstr>10, 3, 0, 1</vt:lpwstr>
  </property>
</Properties>
</file>